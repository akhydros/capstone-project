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05072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PMG Intelligence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Research Data Dictionary Assistant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answers. Instantly. With confidence.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2026  |  Alex Katzighera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Lookup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2679192" cy="2651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2679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Wasted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teams manually scan spreadsheets to find variable definitions and coded response options.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841248"/>
            <a:ext cx="2679192" cy="2651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841248"/>
            <a:ext cx="2679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152704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Cross-Wave 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4992" y="1938528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questions across survey years requires opening multiple files with no easy search.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841248"/>
            <a:ext cx="2679192" cy="2651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841248"/>
            <a:ext cx="2679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27064" y="152704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 Excel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7064" y="1938528"/>
            <a:ext cx="2404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dictionaries are hard to search, share, or query at scale — knowledge stays siloed.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“Answers buried in files. Time wasted on manual lookups.”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PMG Intelligence?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371600"/>
          </a:xfrm>
          <a:prstGeom prst="rect">
            <a:avLst/>
          </a:prstGeom>
          <a:solidFill>
            <a:srgbClr val="243B52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91440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8046720" cy="1371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language chatbot grounded in your actual survey data dictionaries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delivering cited, auditable answers in seconds.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1874520" cy="182880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68880"/>
            <a:ext cx="1874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468880"/>
            <a:ext cx="1874520" cy="182880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2468880"/>
            <a:ext cx="1874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651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514600" y="3474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468880"/>
            <a:ext cx="1874520" cy="182880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468880"/>
            <a:ext cx="1874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651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468880"/>
            <a:ext cx="1874520" cy="182880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468880"/>
            <a:ext cx="1874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651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&lt;2s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629400" y="3474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2679192" cy="178308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7919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868680"/>
            <a:ext cx="2679192" cy="178308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68680"/>
            <a:ext cx="267919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0058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19272" y="201168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868680"/>
            <a:ext cx="2679192" cy="178308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868680"/>
            <a:ext cx="267919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0058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81344" y="201168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679192" cy="178308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267919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/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2834640"/>
            <a:ext cx="2679192" cy="178308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834640"/>
            <a:ext cx="267919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97180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EN/FR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319272" y="397764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2834640"/>
            <a:ext cx="2679192" cy="178308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834640"/>
            <a:ext cx="267919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97180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181344" y="3977640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 about any survey variable — no syntax needed.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7832" y="86868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6868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941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ID Lookup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30759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fetch any PMG question by ID (e.g. PMG22_WAI_q5a) with full metadata.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86868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86868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941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Label Retrieval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30759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coded response options displayed inline — no more hunting through Excel columns.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Multi-Survey Topic Scan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questions about GICs, credit unions, or robo-advisors across all survey waves.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256032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56032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Consistency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299923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questions return the same answer — no drift or contradictions within a session.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256032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56032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Transparency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299923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the exact record it used (e.g. [PMG22_WAI_q5a]) with key details.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Intelligence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Confidence-Tier Routing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tiers: &lt;0.25 deterministic, &lt;0.35 shows warning, above threshold full LLM synthesis. No hallucinated answers.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7832" y="86868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86868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941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Suggestion Chips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64992" y="130759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next-question chips auto-generated after every answer — guides analysts to deeper insights.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86868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86868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9418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30759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+ notes logged by trace ID. Every piece of feedback tied to the exact query and records used.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any answer as .txt, .json, .md, or .xlsx instantly — ready for reports and presentations.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256032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56032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Connector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299923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SharePoint for uploading new survey dictionaries without leaving the browser.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2560320"/>
            <a:ext cx="2679192" cy="15087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560320"/>
            <a:ext cx="267919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7064" y="2999232"/>
            <a:ext cx="240487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accepted in English and French (EN/FR). Auto-detected and translated before retrieval.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 to Conversation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023360" cy="320040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82880" cy="182880"/>
          </a:xfrm>
          <a:prstGeom prst="rect">
            <a:avLst/>
          </a:prstGeom>
          <a:solidFill>
            <a:srgbClr val="5A3800"/>
          </a:solidFill>
          <a:ln w="12700">
            <a:solidFill>
              <a:srgbClr val="5A3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3560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arises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" y="1664208"/>
            <a:ext cx="0" cy="201168"/>
          </a:xfrm>
          <a:prstGeom prst="LINE">
            <a:avLst/>
          </a:prstGeom>
          <a:noFill/>
          <a:ln w="19050">
            <a:solidFill>
              <a:srgbClr val="5A38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92808"/>
            <a:ext cx="182880" cy="182880"/>
          </a:xfrm>
          <a:prstGeom prst="rect">
            <a:avLst/>
          </a:prstGeom>
          <a:solidFill>
            <a:srgbClr val="5A3800"/>
          </a:solidFill>
          <a:ln w="12700">
            <a:solidFill>
              <a:srgbClr val="5A3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4708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analyst team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" y="2075688"/>
            <a:ext cx="0" cy="201168"/>
          </a:xfrm>
          <a:prstGeom prst="LINE">
            <a:avLst/>
          </a:prstGeom>
          <a:noFill/>
          <a:ln w="19050">
            <a:solidFill>
              <a:srgbClr val="5A3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04288"/>
            <a:ext cx="182880" cy="182880"/>
          </a:xfrm>
          <a:prstGeom prst="rect">
            <a:avLst/>
          </a:prstGeom>
          <a:solidFill>
            <a:srgbClr val="5A3800"/>
          </a:solidFill>
          <a:ln w="12700">
            <a:solidFill>
              <a:srgbClr val="5A3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258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response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" y="2487168"/>
            <a:ext cx="0" cy="201168"/>
          </a:xfrm>
          <a:prstGeom prst="LINE">
            <a:avLst/>
          </a:prstGeom>
          <a:noFill/>
          <a:ln w="19050">
            <a:solidFill>
              <a:srgbClr val="5A3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15768"/>
            <a:ext cx="182880" cy="182880"/>
          </a:xfrm>
          <a:prstGeom prst="rect">
            <a:avLst/>
          </a:prstGeom>
          <a:solidFill>
            <a:srgbClr val="5A3800"/>
          </a:solidFill>
          <a:ln w="12700">
            <a:solidFill>
              <a:srgbClr val="5A3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67004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Excel dictionary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" y="2898648"/>
            <a:ext cx="0" cy="201168"/>
          </a:xfrm>
          <a:prstGeom prst="LINE">
            <a:avLst/>
          </a:prstGeom>
          <a:noFill/>
          <a:ln w="19050">
            <a:solidFill>
              <a:srgbClr val="5A3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27248"/>
            <a:ext cx="182880" cy="182880"/>
          </a:xfrm>
          <a:prstGeom prst="rect">
            <a:avLst/>
          </a:prstGeom>
          <a:solidFill>
            <a:srgbClr val="5A3800"/>
          </a:solidFill>
          <a:ln w="12700">
            <a:solidFill>
              <a:srgbClr val="5A3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08152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through rows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" y="3310128"/>
            <a:ext cx="0" cy="201168"/>
          </a:xfrm>
          <a:prstGeom prst="LINE">
            <a:avLst/>
          </a:prstGeom>
          <a:noFill/>
          <a:ln w="19050">
            <a:solidFill>
              <a:srgbClr val="5A3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38728"/>
            <a:ext cx="182880" cy="182880"/>
          </a:xfrm>
          <a:prstGeom prst="rect">
            <a:avLst/>
          </a:prstGeom>
          <a:solidFill>
            <a:srgbClr val="5A3800"/>
          </a:solidFill>
          <a:ln w="12700">
            <a:solidFill>
              <a:srgbClr val="5A3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49300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result to presentation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023360" cy="320040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68680"/>
            <a:ext cx="402336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481328"/>
            <a:ext cx="22860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143560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arises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47488" y="1709928"/>
            <a:ext cx="0" cy="5029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258568"/>
            <a:ext cx="22860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221284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PMG Intelligence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47488" y="2487168"/>
            <a:ext cx="0" cy="5029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3035808"/>
            <a:ext cx="228600" cy="228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299008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with source record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8412480" cy="54864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30 minutes now takes 30 seconds.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Covered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3108960" cy="393192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10896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PMG Survey Waves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PMG17_GAM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PMG18_ROB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05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PMG20_GAM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80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PMG22_WAI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56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additional uploads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additional surveys via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index rebuilds automatically.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86868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Taxonomy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1371600"/>
            <a:ext cx="2560320" cy="914400"/>
          </a:xfrm>
          <a:prstGeom prst="rect">
            <a:avLst/>
          </a:prstGeom>
          <a:solidFill>
            <a:srgbClr val="243B5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371600"/>
            <a:ext cx="2560320" cy="914400"/>
          </a:xfrm>
          <a:prstGeom prst="rect">
            <a:avLst/>
          </a:prstGeom>
          <a:solidFill>
            <a:srgbClr val="243B5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2468880"/>
            <a:ext cx="2560320" cy="914400"/>
          </a:xfrm>
          <a:prstGeom prst="rect">
            <a:avLst/>
          </a:prstGeom>
          <a:solidFill>
            <a:srgbClr val="243B5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Sentiment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2468880"/>
            <a:ext cx="2560320" cy="914400"/>
          </a:xfrm>
          <a:prstGeom prst="rect">
            <a:avLst/>
          </a:prstGeom>
          <a:solidFill>
            <a:srgbClr val="243B5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Behavior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3566160"/>
            <a:ext cx="2560320" cy="914400"/>
          </a:xfrm>
          <a:prstGeom prst="rect">
            <a:avLst/>
          </a:prstGeom>
          <a:solidFill>
            <a:srgbClr val="243B5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Ownership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566160"/>
            <a:ext cx="2560320" cy="914400"/>
          </a:xfrm>
          <a:prstGeom prst="rect">
            <a:avLst/>
          </a:prstGeom>
          <a:solidFill>
            <a:srgbClr val="243B52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Relationship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Enterprise Confidence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17373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33272"/>
            <a:ext cx="38404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/ Analyst / Admin token tiers with scoped permissions — only the right people see the right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14800" cy="17373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41148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33272"/>
            <a:ext cx="38404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03327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5270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logged with trace ID, latency, route, and session. Fully replayable for compliance review.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114800" cy="17373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41148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53512"/>
            <a:ext cx="38404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9535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447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 and phone numbers stripped at the database layer automatically — before any logging.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114800" cy="173736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88920"/>
            <a:ext cx="41148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953512"/>
            <a:ext cx="384048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9535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Lifecycle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34472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activation gate, ownership enforcement per token, and automatic 24-hour expiry for idle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— All Findings Resolved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third-party security audit completed. Every finding remediated before release.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920240" cy="3246120"/>
          </a:xfrm>
          <a:prstGeom prst="rect">
            <a:avLst/>
          </a:prstGeom>
          <a:solidFill>
            <a:srgbClr val="243B5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19202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554480" cy="27432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70632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detection, input sanitization,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guards, auth token hardening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069080"/>
            <a:ext cx="164592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261872"/>
            <a:ext cx="1920240" cy="3246120"/>
          </a:xfrm>
          <a:prstGeom prst="rect">
            <a:avLst/>
          </a:prstGeom>
          <a:solidFill>
            <a:srgbClr val="243B52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261872"/>
            <a:ext cx="19202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2646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60604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97480" y="2679192"/>
            <a:ext cx="1554480" cy="27432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2770632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pipeline,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ownership enforcement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4069080"/>
            <a:ext cx="164592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1920240" cy="3246120"/>
          </a:xfrm>
          <a:prstGeom prst="rect">
            <a:avLst/>
          </a:prstGeom>
          <a:solidFill>
            <a:srgbClr val="243B5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61872"/>
            <a:ext cx="1920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2646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79192"/>
            <a:ext cx="1554480" cy="27432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770632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(30 req/min), export validation,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size caps, logging PII scrub, CORS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4069080"/>
            <a:ext cx="164592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1261872"/>
            <a:ext cx="1920240" cy="3246120"/>
          </a:xfrm>
          <a:prstGeom prst="rect">
            <a:avLst/>
          </a:prstGeom>
          <a:solidFill>
            <a:srgbClr val="243B52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1261872"/>
            <a:ext cx="19202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42646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690372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95160" y="2679192"/>
            <a:ext cx="1554480" cy="27432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2770632"/>
            <a:ext cx="1700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verbosity,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key collision prevention, misc hardening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4069080"/>
            <a:ext cx="164592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at Scale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31720"/>
            <a:ext cx="777240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84248"/>
            <a:ext cx="694944" cy="6949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2940" y="2843784"/>
            <a:ext cx="1508760" cy="132588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" y="2916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" y="330098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2–3 research analysts.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1984248"/>
            <a:ext cx="694944" cy="6949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08860" y="2843784"/>
            <a:ext cx="1508760" cy="132588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00300" y="2916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Setup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00300" y="330098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Viewer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tokens to teams.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61688" y="1984248"/>
            <a:ext cx="694944" cy="6949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54780" y="2843784"/>
            <a:ext cx="1508760" cy="132588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46220" y="2916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46220" y="330098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current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dictionaries.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07608" y="1984248"/>
            <a:ext cx="694944" cy="6949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0700" y="2843784"/>
            <a:ext cx="1508760" cy="132588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92140" y="2916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92140" y="330098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training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sign-off.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53528" y="1984248"/>
            <a:ext cx="694944" cy="6949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46620" y="2843784"/>
            <a:ext cx="1508760" cy="1325880"/>
          </a:xfrm>
          <a:prstGeom prst="rect">
            <a:avLst/>
          </a:prstGeom>
          <a:solidFill>
            <a:srgbClr val="243B52"/>
          </a:solidFill>
          <a:ln w="12700">
            <a:solidFill>
              <a:srgbClr val="2D4A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38060" y="2916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38060" y="330098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Cloud/on-prem deploy.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See It Live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PMG Intelligence anything about your survey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8412480" cy="36576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64208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questions in PMG22_WAI relate to GICs?"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8412480" cy="658368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68880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are the value labels for PMG18_ROB question 32?"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ect">
            <a:avLst/>
          </a:prstGeom>
          <a:solidFill>
            <a:srgbClr val="243B52"/>
          </a:solidFill>
          <a:ln w="12700">
            <a:solidFill>
              <a:srgbClr val="243B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273552"/>
            <a:ext cx="10972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735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surveys asked about credit unions?"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 this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05072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answers. Instantly. With confidence.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6576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Katzighera  |  Capstone Project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Intelligence</dc:title>
  <dc:subject>Capstone Project 2026</dc:subject>
  <dc:creator>Alex Katzighera</dc:creator>
  <cp:lastModifiedBy>Alex Katzighera</cp:lastModifiedBy>
  <cp:revision>1</cp:revision>
  <dcterms:created xsi:type="dcterms:W3CDTF">2026-04-27T18:14:28Z</dcterms:created>
  <dcterms:modified xsi:type="dcterms:W3CDTF">2026-04-27T18:14:28Z</dcterms:modified>
</cp:coreProperties>
</file>