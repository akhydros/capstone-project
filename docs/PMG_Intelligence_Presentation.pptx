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005072"/>
            <a:ext cx="91440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8580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PMG Intelligence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Conversational Research Data Dictionary Assistant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41148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880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answers. Instantly. With confidence.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 |  2026  |  Alex Katzighera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Lookup Problem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41248"/>
            <a:ext cx="2679192" cy="2651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41248"/>
            <a:ext cx="2679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9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527048"/>
            <a:ext cx="2404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Wasted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938528"/>
            <a:ext cx="2404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teams manually scan spreadsheets to find variable definitions and coded response options.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841248"/>
            <a:ext cx="2679192" cy="2651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27832" y="841248"/>
            <a:ext cx="2679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64992" y="969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64992" y="1527048"/>
            <a:ext cx="2404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Cross-Wave 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64992" y="1938528"/>
            <a:ext cx="2404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questions across survey years requires opening multiple files with no easy search.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841248"/>
            <a:ext cx="2679192" cy="2651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89904" y="841248"/>
            <a:ext cx="2679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969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27064" y="1527048"/>
            <a:ext cx="2404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in Excel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27064" y="1938528"/>
            <a:ext cx="2404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dictionaries are hard to search, share, or query at scale — knowledge stays siloed.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“Answers buried in files. Time wasted on manual lookups.”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PMG Intelligence?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8412480" cy="1371600"/>
          </a:xfrm>
          <a:prstGeom prst="rect">
            <a:avLst/>
          </a:prstGeom>
          <a:solidFill>
            <a:srgbClr val="243B52"/>
          </a:solidFill>
          <a:ln w="2540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91440" cy="1371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868680"/>
            <a:ext cx="8046720" cy="13716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 language chatbot grounded in your actual survey data dictionaries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delivering cited, auditable answers in seconds.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468880"/>
            <a:ext cx="1874520" cy="182880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2468880"/>
            <a:ext cx="18745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5176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23160" y="2468880"/>
            <a:ext cx="1874520" cy="182880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23160" y="2468880"/>
            <a:ext cx="18745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14600" y="265176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2514600" y="3474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2468880"/>
            <a:ext cx="1874520" cy="182880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80560" y="2468880"/>
            <a:ext cx="18745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265176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4572000" y="3474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7960" y="2468880"/>
            <a:ext cx="1874520" cy="182880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2468880"/>
            <a:ext cx="18745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265176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&lt;2s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629400" y="3474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2679192" cy="178308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2679192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2496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868680"/>
            <a:ext cx="2679192" cy="178308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27832" y="868680"/>
            <a:ext cx="2679192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9272" y="10058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319272" y="2011680"/>
            <a:ext cx="2496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9904" y="868680"/>
            <a:ext cx="2679192" cy="178308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9904" y="868680"/>
            <a:ext cx="2679192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81344" y="10058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181344" y="2011680"/>
            <a:ext cx="2496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2679192" cy="178308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834640"/>
            <a:ext cx="2679192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97180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2496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/ Min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2834640"/>
            <a:ext cx="2679192" cy="178308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27832" y="2834640"/>
            <a:ext cx="2679192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297180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EN/FR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3319272" y="3977640"/>
            <a:ext cx="2496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9904" y="2834640"/>
            <a:ext cx="2679192" cy="1783080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9904" y="2834640"/>
            <a:ext cx="2679192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1344" y="297180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6181344" y="3977640"/>
            <a:ext cx="2496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4183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Search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30759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in plain English about any survey variable — no syntax needed.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27832" y="86868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27832" y="86868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94183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ID Lookup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64992" y="130759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Instantly fetch any PMG question by ID (e.g. PMG22_WAI_q5a) with full metadata.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9904" y="86868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9904" y="86868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94183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Label Retrieval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27064" y="130759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coded response options displayed inline — no more hunting through Excel columns.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56032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56032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Multi-Survey Topic Scan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299923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all questions about GICs, credit unions, or robo-advisors across all survey waves.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256032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27832" y="256032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Consistency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64992" y="299923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questions return the same answer — no drift or contradictions within a session.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89904" y="256032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9904" y="256032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27064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Transparency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27064" y="299923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cites the exact record it used (e.g. [PMG22_WAI_q5a]) with key details.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Intelligence Features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4183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Confidence-Tier Routing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30759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tiers: &lt;0.25 deterministic, &lt;0.35 shows warning, above threshold full LLM synthesis. No hallucinated answers.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27832" y="86868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27832" y="86868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94183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Suggestion Chips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64992" y="130759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next-question chips auto-generated after every answer — guides analysts to deeper insights.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9904" y="86868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9904" y="86868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27064" y="94183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System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27064" y="130759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Thumbs up/down + notes logged by trace ID. Every piece of feedback tied to the exact query and records used.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56032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56032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Exports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299923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any answer as .txt, .json, .md, or .xlsx instantly — ready for reports and presentations.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27832" y="256032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27832" y="256032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Connector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64992" y="299923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integration with SharePoint for uploading new survey dictionaries without leaving the browser.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89904" y="2560320"/>
            <a:ext cx="2679192" cy="15087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9904" y="2560320"/>
            <a:ext cx="2679192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27064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Support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27064" y="2999232"/>
            <a:ext cx="24048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accepted in English and French (EN/FR). Auto-detected and translated before retrieval.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Spreadsheet to Conversation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4023360" cy="320040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40233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784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481328"/>
            <a:ext cx="182880" cy="182880"/>
          </a:xfrm>
          <a:prstGeom prst="rect">
            <a:avLst/>
          </a:prstGeom>
          <a:solidFill>
            <a:srgbClr val="5A3800"/>
          </a:solidFill>
          <a:ln w="12700">
            <a:solidFill>
              <a:srgbClr val="5A3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435608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arises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" y="1664208"/>
            <a:ext cx="0" cy="201168"/>
          </a:xfrm>
          <a:prstGeom prst="LINE">
            <a:avLst/>
          </a:prstGeom>
          <a:noFill/>
          <a:ln w="19050">
            <a:solidFill>
              <a:srgbClr val="5A38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92808"/>
            <a:ext cx="182880" cy="182880"/>
          </a:xfrm>
          <a:prstGeom prst="rect">
            <a:avLst/>
          </a:prstGeom>
          <a:solidFill>
            <a:srgbClr val="5A3800"/>
          </a:solidFill>
          <a:ln w="12700">
            <a:solidFill>
              <a:srgbClr val="5A3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1847088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analyst team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" y="2075688"/>
            <a:ext cx="0" cy="201168"/>
          </a:xfrm>
          <a:prstGeom prst="LINE">
            <a:avLst/>
          </a:prstGeom>
          <a:noFill/>
          <a:ln w="19050">
            <a:solidFill>
              <a:srgbClr val="5A38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304288"/>
            <a:ext cx="182880" cy="182880"/>
          </a:xfrm>
          <a:prstGeom prst="rect">
            <a:avLst/>
          </a:prstGeom>
          <a:solidFill>
            <a:srgbClr val="5A3800"/>
          </a:solidFill>
          <a:ln w="12700">
            <a:solidFill>
              <a:srgbClr val="5A3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258568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response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" y="2487168"/>
            <a:ext cx="0" cy="201168"/>
          </a:xfrm>
          <a:prstGeom prst="LINE">
            <a:avLst/>
          </a:prstGeom>
          <a:noFill/>
          <a:ln w="19050">
            <a:solidFill>
              <a:srgbClr val="5A38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715768"/>
            <a:ext cx="182880" cy="182880"/>
          </a:xfrm>
          <a:prstGeom prst="rect">
            <a:avLst/>
          </a:prstGeom>
          <a:solidFill>
            <a:srgbClr val="5A3800"/>
          </a:solidFill>
          <a:ln w="12700">
            <a:solidFill>
              <a:srgbClr val="5A38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2670048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Excel dictionary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" y="2898648"/>
            <a:ext cx="0" cy="201168"/>
          </a:xfrm>
          <a:prstGeom prst="LINE">
            <a:avLst/>
          </a:prstGeom>
          <a:noFill/>
          <a:ln w="19050">
            <a:solidFill>
              <a:srgbClr val="5A38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127248"/>
            <a:ext cx="182880" cy="182880"/>
          </a:xfrm>
          <a:prstGeom prst="rect">
            <a:avLst/>
          </a:prstGeom>
          <a:solidFill>
            <a:srgbClr val="5A3800"/>
          </a:solidFill>
          <a:ln w="12700">
            <a:solidFill>
              <a:srgbClr val="5A3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081528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search through rows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" y="3310128"/>
            <a:ext cx="0" cy="201168"/>
          </a:xfrm>
          <a:prstGeom prst="LINE">
            <a:avLst/>
          </a:prstGeom>
          <a:noFill/>
          <a:ln w="19050">
            <a:solidFill>
              <a:srgbClr val="5A38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538728"/>
            <a:ext cx="182880" cy="182880"/>
          </a:xfrm>
          <a:prstGeom prst="rect">
            <a:avLst/>
          </a:prstGeom>
          <a:solidFill>
            <a:srgbClr val="5A3800"/>
          </a:solidFill>
          <a:ln w="12700">
            <a:solidFill>
              <a:srgbClr val="5A3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3493008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result to presentation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868680"/>
            <a:ext cx="4023360" cy="320040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868680"/>
            <a:ext cx="402336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9784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37760" y="1481328"/>
            <a:ext cx="228600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85232" y="1435608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 arises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47488" y="1709928"/>
            <a:ext cx="0" cy="50292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2258568"/>
            <a:ext cx="228600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85232" y="2212848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PMG Intelligence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47488" y="2487168"/>
            <a:ext cx="0" cy="50292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37760" y="3035808"/>
            <a:ext cx="228600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85232" y="2990088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 with source record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4251960"/>
            <a:ext cx="8412480" cy="54864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took 30 minutes now takes 30 seconds.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Covered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3108960" cy="393192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310896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PMG Survey Waves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554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PMG17_GAM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029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PMG18_ROB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5054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PMG20_GAM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9809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PMG22_WAI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345643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additional uploads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4114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additional surveys via</a:t>
            </a:r>
            <a:endParaRPr lang="en-US" sz="1000" dirty="0"/>
          </a:p>
          <a:p>
            <a:pPr algn="l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— index rebuilds automatically.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03320" y="86868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Taxonomy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03320" y="1371600"/>
            <a:ext cx="2560320" cy="914400"/>
          </a:xfrm>
          <a:prstGeom prst="rect">
            <a:avLst/>
          </a:prstGeom>
          <a:solidFill>
            <a:srgbClr val="243B52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40480" y="1371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46520" y="1371600"/>
            <a:ext cx="2560320" cy="914400"/>
          </a:xfrm>
          <a:prstGeom prst="rect">
            <a:avLst/>
          </a:prstGeom>
          <a:solidFill>
            <a:srgbClr val="243B52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83680" y="1371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Planning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03320" y="2468880"/>
            <a:ext cx="2560320" cy="914400"/>
          </a:xfrm>
          <a:prstGeom prst="rect">
            <a:avLst/>
          </a:prstGeom>
          <a:solidFill>
            <a:srgbClr val="243B52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840480" y="2468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Sentiment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46520" y="2468880"/>
            <a:ext cx="2560320" cy="914400"/>
          </a:xfrm>
          <a:prstGeom prst="rect">
            <a:avLst/>
          </a:prstGeom>
          <a:solidFill>
            <a:srgbClr val="243B52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0" y="2468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Behavior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703320" y="3566160"/>
            <a:ext cx="2560320" cy="914400"/>
          </a:xfrm>
          <a:prstGeom prst="rect">
            <a:avLst/>
          </a:prstGeom>
          <a:solidFill>
            <a:srgbClr val="243B52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840480" y="35661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Ownership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3566160"/>
            <a:ext cx="2560320" cy="914400"/>
          </a:xfrm>
          <a:prstGeom prst="rect">
            <a:avLst/>
          </a:prstGeom>
          <a:solidFill>
            <a:srgbClr val="243B52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83680" y="35661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Relationship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Enterprise Confidence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68680"/>
            <a:ext cx="4114800" cy="17373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41148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33272"/>
            <a:ext cx="384048" cy="3840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03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033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52704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/ Analyst / Admin token tiers with scoped permissions — only the right people see the right data.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68680"/>
            <a:ext cx="4114800" cy="17373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868680"/>
            <a:ext cx="41148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1033272"/>
            <a:ext cx="384048" cy="3840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03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03520" y="103327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152704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logged with trace ID, latency, route, and session. Fully replayable for compliance review.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788920"/>
            <a:ext cx="4114800" cy="17373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788920"/>
            <a:ext cx="41148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2953512"/>
            <a:ext cx="384048" cy="3840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29535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344728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addresses and phone numbers stripped at the database layer automatically — before any logging.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788920"/>
            <a:ext cx="4114800" cy="173736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788920"/>
            <a:ext cx="41148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00600" y="2953512"/>
            <a:ext cx="384048" cy="3840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303520" y="29535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00600" y="344728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activation gate, ownership enforcement per token, and automatic 24-hour expiry for idle sessions.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 — All Findings Resolved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0467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third-party security audit completed. Every finding remediated before release.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1920240" cy="3246120"/>
          </a:xfrm>
          <a:prstGeom prst="rect">
            <a:avLst/>
          </a:prstGeom>
          <a:solidFill>
            <a:srgbClr val="243B52"/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61872"/>
            <a:ext cx="1920240" cy="91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26464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1554480" cy="27432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2770632"/>
            <a:ext cx="1700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Jailbreak detection, input sanitization,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guards, auth token hardening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4069080"/>
            <a:ext cx="164592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690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14600" y="1261872"/>
            <a:ext cx="1920240" cy="3246120"/>
          </a:xfrm>
          <a:prstGeom prst="rect">
            <a:avLst/>
          </a:prstGeom>
          <a:solidFill>
            <a:srgbClr val="243B52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14600" y="1261872"/>
            <a:ext cx="1920240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06040" y="1426464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260604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97480" y="2679192"/>
            <a:ext cx="1554480" cy="27432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24328" y="2770632"/>
            <a:ext cx="1700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redaction pipeline,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ownership enforcement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51760" y="4069080"/>
            <a:ext cx="164592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40690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1261872"/>
            <a:ext cx="1920240" cy="3246120"/>
          </a:xfrm>
          <a:prstGeom prst="rect">
            <a:avLst/>
          </a:prstGeom>
          <a:solidFill>
            <a:srgbClr val="243B52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261872"/>
            <a:ext cx="19202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426464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475488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679192"/>
            <a:ext cx="1554480" cy="27432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2770632"/>
            <a:ext cx="1700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(30 req/min), export validation,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size caps, logging PII scrub, CORS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00600" y="4069080"/>
            <a:ext cx="164592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0690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12280" y="1261872"/>
            <a:ext cx="1920240" cy="3246120"/>
          </a:xfrm>
          <a:prstGeom prst="rect">
            <a:avLst/>
          </a:prstGeom>
          <a:solidFill>
            <a:srgbClr val="243B52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12280" y="1261872"/>
            <a:ext cx="1920240" cy="914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1426464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800" dirty="0"/>
          </a:p>
        </p:txBody>
      </p:sp>
      <p:sp>
        <p:nvSpPr>
          <p:cNvPr id="32" name="Text 30"/>
          <p:cNvSpPr/>
          <p:nvPr/>
        </p:nvSpPr>
        <p:spPr>
          <a:xfrm>
            <a:off x="690372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95160" y="2679192"/>
            <a:ext cx="1554480" cy="27432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22008" y="2770632"/>
            <a:ext cx="17007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 verbosity,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key collision prevention, misc hardening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949440" y="4069080"/>
            <a:ext cx="1645920" cy="292608"/>
          </a:xfrm>
          <a:prstGeom prst="rect">
            <a:avLst/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9440" y="40690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Implementing at Scale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694944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331720"/>
            <a:ext cx="777240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19842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" y="19842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1–2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2940" y="2843784"/>
            <a:ext cx="1508760" cy="132588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4380" y="291693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4380" y="3300984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with 2–3 research analysts.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feedback.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19842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19842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0" y="13716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08860" y="2843784"/>
            <a:ext cx="1508760" cy="132588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00300" y="291693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Setup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00300" y="3300984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Viewer 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tokens to teams.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61688" y="19842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61688" y="19842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31920" y="13716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54780" y="2843784"/>
            <a:ext cx="1508760" cy="132588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046220" y="291693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Upload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46220" y="3300984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all current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data dictionaries.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07608" y="19842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07608" y="19842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77840" y="13716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00700" y="2843784"/>
            <a:ext cx="1508760" cy="132588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692140" y="291693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92140" y="3300984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training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sign-off.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53528" y="19842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53528" y="19842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23760" y="13716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3+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246620" y="2843784"/>
            <a:ext cx="1508760" cy="1325880"/>
          </a:xfrm>
          <a:prstGeom prst="rect">
            <a:avLst/>
          </a:prstGeom>
          <a:solidFill>
            <a:srgbClr val="243B52"/>
          </a:solidFill>
          <a:ln w="12700">
            <a:solidFill>
              <a:srgbClr val="2D4A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338060" y="291693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38060" y="3300984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Cloud/on-prem deploy.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integration.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See It Live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65760" y="10515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PMG Intelligence anything about your survey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8412480" cy="36576"/>
          </a:xfrm>
          <a:prstGeom prst="rect">
            <a:avLst/>
          </a:prstGeom>
          <a:solidFill>
            <a:srgbClr val="2D4A63"/>
          </a:solidFill>
          <a:ln w="12700">
            <a:solidFill>
              <a:srgbClr val="2D4A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64208"/>
            <a:ext cx="8412480" cy="658368"/>
          </a:xfrm>
          <a:prstGeom prst="rect">
            <a:avLst/>
          </a:prstGeom>
          <a:solidFill>
            <a:srgbClr val="243B52"/>
          </a:solidFill>
          <a:ln w="12700">
            <a:solidFill>
              <a:srgbClr val="243B5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664208"/>
            <a:ext cx="109728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6420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questions in PMG22_WAI relate to GICs?"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8412480" cy="658368"/>
          </a:xfrm>
          <a:prstGeom prst="rect">
            <a:avLst/>
          </a:prstGeom>
          <a:solidFill>
            <a:srgbClr val="243B52"/>
          </a:solidFill>
          <a:ln w="12700">
            <a:solidFill>
              <a:srgbClr val="243B5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468880"/>
            <a:ext cx="109728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46888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are the value labels for PMG18_ROB question 32?"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ect">
            <a:avLst/>
          </a:prstGeom>
          <a:solidFill>
            <a:srgbClr val="243B52"/>
          </a:solidFill>
          <a:ln w="12700">
            <a:solidFill>
              <a:srgbClr val="243B5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273552"/>
            <a:ext cx="109728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7355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surveys asked about credit unions?"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follows this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005072"/>
            <a:ext cx="91440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3152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answers. Instantly. With confidence.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36576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Katzighera  |  Capstone Project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PMG Intelligence</dc:title>
  <dc:subject>Capstone Project 2026</dc:subject>
  <dc:creator>Alex Katzighera</dc:creator>
  <cp:lastModifiedBy>Alex Katzighera</cp:lastModifiedBy>
  <cp:revision>1</cp:revision>
  <dcterms:created xsi:type="dcterms:W3CDTF">2026-04-21T23:11:34Z</dcterms:created>
  <dcterms:modified xsi:type="dcterms:W3CDTF">2026-04-21T23:11:34Z</dcterms:modified>
</cp:coreProperties>
</file>